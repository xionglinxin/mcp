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6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83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4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2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00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89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83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2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63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30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3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7F40F-7E70-46D5-9815-F77B8FB4E53F}" type="datetimeFigureOut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08166-197B-400B-9535-BE012CE71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98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18" Type="http://schemas.openxmlformats.org/officeDocument/2006/relationships/image" Target="../media/image3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12" Type="http://schemas.openxmlformats.org/officeDocument/2006/relationships/image" Target="../media/image29.emf"/><Relationship Id="rId17" Type="http://schemas.openxmlformats.org/officeDocument/2006/relationships/image" Target="../media/image34.emf"/><Relationship Id="rId2" Type="http://schemas.openxmlformats.org/officeDocument/2006/relationships/image" Target="../media/image19.emf"/><Relationship Id="rId16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image" Target="../media/image28.emf"/><Relationship Id="rId5" Type="http://schemas.openxmlformats.org/officeDocument/2006/relationships/image" Target="../media/image22.emf"/><Relationship Id="rId15" Type="http://schemas.openxmlformats.org/officeDocument/2006/relationships/image" Target="../media/image32.emf"/><Relationship Id="rId10" Type="http://schemas.openxmlformats.org/officeDocument/2006/relationships/image" Target="../media/image27.emf"/><Relationship Id="rId19" Type="http://schemas.openxmlformats.org/officeDocument/2006/relationships/image" Target="../media/image36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Relationship Id="rId14" Type="http://schemas.openxmlformats.org/officeDocument/2006/relationships/image" Target="../media/image3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emf"/><Relationship Id="rId18" Type="http://schemas.openxmlformats.org/officeDocument/2006/relationships/image" Target="../media/image5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47.emf"/><Relationship Id="rId17" Type="http://schemas.openxmlformats.org/officeDocument/2006/relationships/image" Target="../media/image52.emf"/><Relationship Id="rId2" Type="http://schemas.openxmlformats.org/officeDocument/2006/relationships/image" Target="../media/image37.emf"/><Relationship Id="rId16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5" Type="http://schemas.openxmlformats.org/officeDocument/2006/relationships/image" Target="../media/image50.emf"/><Relationship Id="rId10" Type="http://schemas.openxmlformats.org/officeDocument/2006/relationships/image" Target="../media/image45.emf"/><Relationship Id="rId19" Type="http://schemas.openxmlformats.org/officeDocument/2006/relationships/image" Target="../media/image54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Relationship Id="rId14" Type="http://schemas.openxmlformats.org/officeDocument/2006/relationships/image" Target="../media/image4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71.emf"/><Relationship Id="rId18" Type="http://schemas.openxmlformats.org/officeDocument/2006/relationships/image" Target="../media/image76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12" Type="http://schemas.openxmlformats.org/officeDocument/2006/relationships/image" Target="../media/image70.emf"/><Relationship Id="rId17" Type="http://schemas.openxmlformats.org/officeDocument/2006/relationships/image" Target="../media/image75.emf"/><Relationship Id="rId2" Type="http://schemas.openxmlformats.org/officeDocument/2006/relationships/image" Target="../media/image60.emf"/><Relationship Id="rId16" Type="http://schemas.openxmlformats.org/officeDocument/2006/relationships/image" Target="../media/image7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emf"/><Relationship Id="rId11" Type="http://schemas.openxmlformats.org/officeDocument/2006/relationships/image" Target="../media/image69.emf"/><Relationship Id="rId5" Type="http://schemas.openxmlformats.org/officeDocument/2006/relationships/image" Target="../media/image63.emf"/><Relationship Id="rId15" Type="http://schemas.openxmlformats.org/officeDocument/2006/relationships/image" Target="../media/image73.emf"/><Relationship Id="rId10" Type="http://schemas.openxmlformats.org/officeDocument/2006/relationships/image" Target="../media/image68.emf"/><Relationship Id="rId19" Type="http://schemas.openxmlformats.org/officeDocument/2006/relationships/image" Target="../media/image77.emf"/><Relationship Id="rId4" Type="http://schemas.openxmlformats.org/officeDocument/2006/relationships/image" Target="../media/image62.emf"/><Relationship Id="rId9" Type="http://schemas.openxmlformats.org/officeDocument/2006/relationships/image" Target="../media/image67.emf"/><Relationship Id="rId14" Type="http://schemas.openxmlformats.org/officeDocument/2006/relationships/image" Target="../media/image7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image" Target="../media/image89.emf"/><Relationship Id="rId18" Type="http://schemas.openxmlformats.org/officeDocument/2006/relationships/image" Target="../media/image94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12" Type="http://schemas.openxmlformats.org/officeDocument/2006/relationships/image" Target="../media/image88.emf"/><Relationship Id="rId17" Type="http://schemas.openxmlformats.org/officeDocument/2006/relationships/image" Target="../media/image93.emf"/><Relationship Id="rId2" Type="http://schemas.openxmlformats.org/officeDocument/2006/relationships/image" Target="../media/image78.emf"/><Relationship Id="rId16" Type="http://schemas.openxmlformats.org/officeDocument/2006/relationships/image" Target="../media/image9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11" Type="http://schemas.openxmlformats.org/officeDocument/2006/relationships/image" Target="../media/image87.emf"/><Relationship Id="rId5" Type="http://schemas.openxmlformats.org/officeDocument/2006/relationships/image" Target="../media/image81.emf"/><Relationship Id="rId15" Type="http://schemas.openxmlformats.org/officeDocument/2006/relationships/image" Target="../media/image91.emf"/><Relationship Id="rId10" Type="http://schemas.openxmlformats.org/officeDocument/2006/relationships/image" Target="../media/image86.emf"/><Relationship Id="rId19" Type="http://schemas.openxmlformats.org/officeDocument/2006/relationships/image" Target="../media/image95.emf"/><Relationship Id="rId4" Type="http://schemas.openxmlformats.org/officeDocument/2006/relationships/image" Target="../media/image80.emf"/><Relationship Id="rId9" Type="http://schemas.openxmlformats.org/officeDocument/2006/relationships/image" Target="../media/image85.emf"/><Relationship Id="rId14" Type="http://schemas.openxmlformats.org/officeDocument/2006/relationships/image" Target="../media/image90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image" Target="../media/image107.emf"/><Relationship Id="rId18" Type="http://schemas.openxmlformats.org/officeDocument/2006/relationships/image" Target="../media/image112.emf"/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12" Type="http://schemas.openxmlformats.org/officeDocument/2006/relationships/image" Target="../media/image106.emf"/><Relationship Id="rId17" Type="http://schemas.openxmlformats.org/officeDocument/2006/relationships/image" Target="../media/image111.emf"/><Relationship Id="rId2" Type="http://schemas.openxmlformats.org/officeDocument/2006/relationships/image" Target="../media/image96.emf"/><Relationship Id="rId16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11" Type="http://schemas.openxmlformats.org/officeDocument/2006/relationships/image" Target="../media/image105.emf"/><Relationship Id="rId5" Type="http://schemas.openxmlformats.org/officeDocument/2006/relationships/image" Target="../media/image99.emf"/><Relationship Id="rId15" Type="http://schemas.openxmlformats.org/officeDocument/2006/relationships/image" Target="../media/image109.emf"/><Relationship Id="rId10" Type="http://schemas.openxmlformats.org/officeDocument/2006/relationships/image" Target="../media/image104.emf"/><Relationship Id="rId19" Type="http://schemas.openxmlformats.org/officeDocument/2006/relationships/image" Target="../media/image113.emf"/><Relationship Id="rId4" Type="http://schemas.openxmlformats.org/officeDocument/2006/relationships/image" Target="../media/image98.emf"/><Relationship Id="rId9" Type="http://schemas.openxmlformats.org/officeDocument/2006/relationships/image" Target="../media/image103.emf"/><Relationship Id="rId14" Type="http://schemas.openxmlformats.org/officeDocument/2006/relationships/image" Target="../media/image10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62" y="854796"/>
            <a:ext cx="837788" cy="710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911" y="854796"/>
            <a:ext cx="837788" cy="710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360" y="867486"/>
            <a:ext cx="837788" cy="697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809" y="918246"/>
            <a:ext cx="837788" cy="6471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258" y="810381"/>
            <a:ext cx="837788" cy="7994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0706" y="670791"/>
            <a:ext cx="837788" cy="93906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88655" y="1703935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IPv6路由器</a:t>
            </a:r>
          </a:p>
        </p:txBody>
      </p:sp>
      <p:sp>
        <p:nvSpPr>
          <p:cNvPr id="17" name="矩形 16"/>
          <p:cNvSpPr/>
          <p:nvPr/>
        </p:nvSpPr>
        <p:spPr>
          <a:xfrm>
            <a:off x="2233984" y="1703935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SOHO路由器</a:t>
            </a:r>
          </a:p>
        </p:txBody>
      </p:sp>
      <p:sp>
        <p:nvSpPr>
          <p:cNvPr id="19" name="矩形 18"/>
          <p:cNvSpPr/>
          <p:nvPr/>
        </p:nvSpPr>
        <p:spPr>
          <a:xfrm>
            <a:off x="4244092" y="1565436"/>
            <a:ext cx="1414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带语音模块</a:t>
            </a:r>
          </a:p>
          <a:p>
            <a:r>
              <a:rPr lang="zh-CN" altLang="en-US" dirty="0"/>
              <a:t>的路由器</a:t>
            </a:r>
          </a:p>
        </p:txBody>
      </p:sp>
      <p:sp>
        <p:nvSpPr>
          <p:cNvPr id="20" name="矩形 19"/>
          <p:cNvSpPr/>
          <p:nvPr/>
        </p:nvSpPr>
        <p:spPr>
          <a:xfrm>
            <a:off x="6101270" y="170393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中低端路由器</a:t>
            </a:r>
          </a:p>
        </p:txBody>
      </p:sp>
      <p:sp>
        <p:nvSpPr>
          <p:cNvPr id="21" name="矩形 20"/>
          <p:cNvSpPr/>
          <p:nvPr/>
        </p:nvSpPr>
        <p:spPr>
          <a:xfrm>
            <a:off x="8214957" y="170393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高端路由器</a:t>
            </a:r>
          </a:p>
        </p:txBody>
      </p:sp>
      <p:sp>
        <p:nvSpPr>
          <p:cNvPr id="22" name="矩形 21"/>
          <p:cNvSpPr/>
          <p:nvPr/>
        </p:nvSpPr>
        <p:spPr>
          <a:xfrm>
            <a:off x="10173839" y="170393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核心路由器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156" y="2418607"/>
            <a:ext cx="825094" cy="85023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4372" y="2418607"/>
            <a:ext cx="825094" cy="8502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588" y="2418607"/>
            <a:ext cx="825094" cy="85023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0804" y="2418607"/>
            <a:ext cx="825094" cy="85023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9020" y="2399572"/>
            <a:ext cx="875869" cy="8883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18012" y="2418607"/>
            <a:ext cx="825094" cy="85023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778" y="4472700"/>
            <a:ext cx="825094" cy="85023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9964" y="4472700"/>
            <a:ext cx="825094" cy="85023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5150" y="4472700"/>
            <a:ext cx="825094" cy="85023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0336" y="4472700"/>
            <a:ext cx="825094" cy="85023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5522" y="4472700"/>
            <a:ext cx="825094" cy="85023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30706" y="4529805"/>
            <a:ext cx="812400" cy="73602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93118" y="3643827"/>
            <a:ext cx="1986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集线器/HUB(抽象)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326958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汇聚交换机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281970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核心交换机</a:t>
            </a:r>
          </a:p>
        </p:txBody>
      </p:sp>
      <p:sp>
        <p:nvSpPr>
          <p:cNvPr id="52" name="矩形 51"/>
          <p:cNvSpPr/>
          <p:nvPr/>
        </p:nvSpPr>
        <p:spPr>
          <a:xfrm>
            <a:off x="6101270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接入交换机</a:t>
            </a:r>
          </a:p>
        </p:txBody>
      </p:sp>
      <p:sp>
        <p:nvSpPr>
          <p:cNvPr id="53" name="矩形 52"/>
          <p:cNvSpPr/>
          <p:nvPr/>
        </p:nvSpPr>
        <p:spPr>
          <a:xfrm>
            <a:off x="8214957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堆叠交换机</a:t>
            </a:r>
          </a:p>
        </p:txBody>
      </p:sp>
      <p:sp>
        <p:nvSpPr>
          <p:cNvPr id="54" name="矩形 53"/>
          <p:cNvSpPr/>
          <p:nvPr/>
        </p:nvSpPr>
        <p:spPr>
          <a:xfrm>
            <a:off x="10692108" y="3643827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AP</a:t>
            </a:r>
          </a:p>
        </p:txBody>
      </p:sp>
      <p:sp>
        <p:nvSpPr>
          <p:cNvPr id="55" name="矩形 54"/>
          <p:cNvSpPr/>
          <p:nvPr/>
        </p:nvSpPr>
        <p:spPr>
          <a:xfrm>
            <a:off x="455367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无线网桥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2442374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无线网卡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4319849" y="558955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接入服务器</a:t>
            </a:r>
          </a:p>
        </p:txBody>
      </p:sp>
      <p:sp>
        <p:nvSpPr>
          <p:cNvPr id="58" name="矩形 57"/>
          <p:cNvSpPr/>
          <p:nvPr/>
        </p:nvSpPr>
        <p:spPr>
          <a:xfrm>
            <a:off x="6428156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语音网关</a:t>
            </a:r>
          </a:p>
        </p:txBody>
      </p:sp>
      <p:sp>
        <p:nvSpPr>
          <p:cNvPr id="59" name="矩形 58"/>
          <p:cNvSpPr/>
          <p:nvPr/>
        </p:nvSpPr>
        <p:spPr>
          <a:xfrm>
            <a:off x="8155970" y="558955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网络电话系统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0105218" y="5589559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CX城域业务平台</a:t>
            </a:r>
          </a:p>
        </p:txBody>
      </p:sp>
    </p:spTree>
    <p:extLst>
      <p:ext uri="{BB962C8B-B14F-4D97-AF65-F5344CB8AC3E}">
        <p14:creationId xmlns:p14="http://schemas.microsoft.com/office/powerpoint/2010/main" val="15955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50" y="518451"/>
            <a:ext cx="812400" cy="736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10" y="562866"/>
            <a:ext cx="1104356" cy="6471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148" y="404241"/>
            <a:ext cx="787013" cy="964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291" y="302721"/>
            <a:ext cx="799706" cy="1167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479" y="163131"/>
            <a:ext cx="672769" cy="14466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8730" y="645351"/>
            <a:ext cx="1117050" cy="482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525" y="2747540"/>
            <a:ext cx="1117050" cy="482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3475" y="2639675"/>
            <a:ext cx="1104356" cy="697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9805" y="2703125"/>
            <a:ext cx="1104356" cy="5710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966" y="2703125"/>
            <a:ext cx="1104356" cy="571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127" y="2766575"/>
            <a:ext cx="1117050" cy="4441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8730" y="2766575"/>
            <a:ext cx="1117050" cy="4441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850" y="4438671"/>
            <a:ext cx="748931" cy="77409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62331" y="4590951"/>
            <a:ext cx="926644" cy="4695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1945" y="4419636"/>
            <a:ext cx="660075" cy="8121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3106" y="4419636"/>
            <a:ext cx="660075" cy="81216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4267" y="4419636"/>
            <a:ext cx="672769" cy="8121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80883" y="4432326"/>
            <a:ext cx="1104356" cy="78678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98797" y="1698473"/>
            <a:ext cx="17584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MSCG多业务</a:t>
            </a:r>
          </a:p>
          <a:p>
            <a:r>
              <a:rPr lang="zh-CN" altLang="en-US" dirty="0"/>
              <a:t>控制网关</a:t>
            </a:r>
          </a:p>
        </p:txBody>
      </p:sp>
      <p:sp>
        <p:nvSpPr>
          <p:cNvPr id="23" name="矩形 22"/>
          <p:cNvSpPr/>
          <p:nvPr/>
        </p:nvSpPr>
        <p:spPr>
          <a:xfrm>
            <a:off x="2006127" y="16848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NE20/20E系列</a:t>
            </a:r>
          </a:p>
          <a:p>
            <a:r>
              <a:rPr lang="zh-CN" altLang="en-US" dirty="0"/>
              <a:t>高端路由器</a:t>
            </a:r>
          </a:p>
        </p:txBody>
      </p:sp>
      <p:sp>
        <p:nvSpPr>
          <p:cNvPr id="24" name="矩形 23"/>
          <p:cNvSpPr/>
          <p:nvPr/>
        </p:nvSpPr>
        <p:spPr>
          <a:xfrm>
            <a:off x="3915181" y="16594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16E/08E/05系列</a:t>
            </a:r>
          </a:p>
          <a:p>
            <a:r>
              <a:rPr lang="zh-CN" altLang="en-US" dirty="0"/>
              <a:t>高端路由器</a:t>
            </a:r>
          </a:p>
        </p:txBody>
      </p:sp>
      <p:sp>
        <p:nvSpPr>
          <p:cNvPr id="25" name="矩形 24"/>
          <p:cNvSpPr/>
          <p:nvPr/>
        </p:nvSpPr>
        <p:spPr>
          <a:xfrm>
            <a:off x="6412495" y="1747620"/>
            <a:ext cx="67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NE40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8248887" y="1747620"/>
            <a:ext cx="67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NE80</a:t>
            </a:r>
          </a:p>
        </p:txBody>
      </p:sp>
      <p:sp>
        <p:nvSpPr>
          <p:cNvPr id="27" name="矩形 26"/>
          <p:cNvSpPr/>
          <p:nvPr/>
        </p:nvSpPr>
        <p:spPr>
          <a:xfrm>
            <a:off x="10389668" y="1823377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AR28</a:t>
            </a:r>
          </a:p>
        </p:txBody>
      </p:sp>
      <p:sp>
        <p:nvSpPr>
          <p:cNvPr id="28" name="矩形 27"/>
          <p:cNvSpPr/>
          <p:nvPr/>
        </p:nvSpPr>
        <p:spPr>
          <a:xfrm>
            <a:off x="674462" y="3677044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AR18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2162331" y="3677044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AR46</a:t>
            </a:r>
          </a:p>
        </p:txBody>
      </p:sp>
      <p:sp>
        <p:nvSpPr>
          <p:cNvPr id="30" name="矩形 29"/>
          <p:cNvSpPr/>
          <p:nvPr/>
        </p:nvSpPr>
        <p:spPr>
          <a:xfrm>
            <a:off x="3902730" y="35248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mtClean="0"/>
              <a:t>Eudemon 1000</a:t>
            </a:r>
          </a:p>
          <a:p>
            <a:r>
              <a:rPr lang="zh-CN" altLang="en-US" smtClean="0"/>
              <a:t>防火墙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080966" y="35113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Eudemon 200</a:t>
            </a:r>
          </a:p>
          <a:p>
            <a:r>
              <a:rPr lang="zh-CN" altLang="en-US" dirty="0"/>
              <a:t>防火墙</a:t>
            </a:r>
          </a:p>
        </p:txBody>
      </p:sp>
      <p:sp>
        <p:nvSpPr>
          <p:cNvPr id="32" name="矩形 31"/>
          <p:cNvSpPr/>
          <p:nvPr/>
        </p:nvSpPr>
        <p:spPr>
          <a:xfrm>
            <a:off x="8052189" y="3609963"/>
            <a:ext cx="1600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Eudemon 100E</a:t>
            </a:r>
          </a:p>
        </p:txBody>
      </p:sp>
      <p:sp>
        <p:nvSpPr>
          <p:cNvPr id="33" name="矩形 32"/>
          <p:cNvSpPr/>
          <p:nvPr/>
        </p:nvSpPr>
        <p:spPr>
          <a:xfrm>
            <a:off x="9866008" y="3575444"/>
            <a:ext cx="1382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VG语音网关</a:t>
            </a:r>
          </a:p>
        </p:txBody>
      </p:sp>
      <p:sp>
        <p:nvSpPr>
          <p:cNvPr id="34" name="矩形 33"/>
          <p:cNvSpPr/>
          <p:nvPr/>
        </p:nvSpPr>
        <p:spPr>
          <a:xfrm>
            <a:off x="228026" y="56050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嵌入式防火墙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894020" y="54532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VRP通用路由平台</a:t>
            </a:r>
          </a:p>
          <a:p>
            <a:r>
              <a:rPr lang="zh-CN" altLang="en-US" dirty="0"/>
              <a:t>(操作系统)</a:t>
            </a:r>
          </a:p>
        </p:txBody>
      </p:sp>
      <p:sp>
        <p:nvSpPr>
          <p:cNvPr id="36" name="矩形 35"/>
          <p:cNvSpPr/>
          <p:nvPr/>
        </p:nvSpPr>
        <p:spPr>
          <a:xfrm>
            <a:off x="4186840" y="5591704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VPN</a:t>
            </a:r>
          </a:p>
        </p:txBody>
      </p:sp>
      <p:sp>
        <p:nvSpPr>
          <p:cNvPr id="37" name="矩形 36"/>
          <p:cNvSpPr/>
          <p:nvPr/>
        </p:nvSpPr>
        <p:spPr>
          <a:xfrm>
            <a:off x="6020721" y="5484307"/>
            <a:ext cx="1463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QoS Manager</a:t>
            </a:r>
          </a:p>
        </p:txBody>
      </p:sp>
      <p:sp>
        <p:nvSpPr>
          <p:cNvPr id="38" name="矩形 37"/>
          <p:cNvSpPr/>
          <p:nvPr/>
        </p:nvSpPr>
        <p:spPr>
          <a:xfrm>
            <a:off x="7776308" y="53861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CAMS综合访问</a:t>
            </a:r>
          </a:p>
          <a:p>
            <a:r>
              <a:rPr lang="zh-CN" altLang="en-US" dirty="0"/>
              <a:t>管理服务器</a:t>
            </a:r>
          </a:p>
        </p:txBody>
      </p:sp>
      <p:sp>
        <p:nvSpPr>
          <p:cNvPr id="39" name="矩形 38"/>
          <p:cNvSpPr/>
          <p:nvPr/>
        </p:nvSpPr>
        <p:spPr>
          <a:xfrm>
            <a:off x="9748531" y="5453205"/>
            <a:ext cx="1959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NBX网络电话系统</a:t>
            </a:r>
          </a:p>
        </p:txBody>
      </p:sp>
    </p:spTree>
    <p:extLst>
      <p:ext uri="{BB962C8B-B14F-4D97-AF65-F5344CB8AC3E}">
        <p14:creationId xmlns:p14="http://schemas.microsoft.com/office/powerpoint/2010/main" val="63413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84" y="637035"/>
            <a:ext cx="1104356" cy="520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229" y="675105"/>
            <a:ext cx="1117050" cy="444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568" y="491100"/>
            <a:ext cx="748931" cy="812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894" y="408615"/>
            <a:ext cx="621994" cy="9771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419" y="675105"/>
            <a:ext cx="1117050" cy="444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1057" y="675105"/>
            <a:ext cx="1117050" cy="4441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46" y="2481047"/>
            <a:ext cx="1104356" cy="5329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6505" y="2519117"/>
            <a:ext cx="1117050" cy="4568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8844" y="2341457"/>
            <a:ext cx="787013" cy="8121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277" y="2341457"/>
            <a:ext cx="787013" cy="812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214" y="2354147"/>
            <a:ext cx="761625" cy="7867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74950" y="2322422"/>
            <a:ext cx="761625" cy="8502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705" y="4411186"/>
            <a:ext cx="736238" cy="8248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8645" y="4404841"/>
            <a:ext cx="672769" cy="8375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2312" y="4328701"/>
            <a:ext cx="660075" cy="98982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5196" y="4449256"/>
            <a:ext cx="825094" cy="7487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5848" y="4474636"/>
            <a:ext cx="1104356" cy="6979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73751" y="4563466"/>
            <a:ext cx="1104356" cy="52029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57981" y="1597802"/>
            <a:ext cx="875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S35000</a:t>
            </a:r>
          </a:p>
        </p:txBody>
      </p:sp>
      <p:sp>
        <p:nvSpPr>
          <p:cNvPr id="23" name="矩形 22"/>
          <p:cNvSpPr/>
          <p:nvPr/>
        </p:nvSpPr>
        <p:spPr>
          <a:xfrm>
            <a:off x="2485483" y="164903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S3000</a:t>
            </a:r>
          </a:p>
        </p:txBody>
      </p:sp>
      <p:sp>
        <p:nvSpPr>
          <p:cNvPr id="24" name="矩形 23"/>
          <p:cNvSpPr/>
          <p:nvPr/>
        </p:nvSpPr>
        <p:spPr>
          <a:xfrm>
            <a:off x="4395965" y="164903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S6500</a:t>
            </a:r>
          </a:p>
        </p:txBody>
      </p:sp>
      <p:sp>
        <p:nvSpPr>
          <p:cNvPr id="25" name="矩形 24"/>
          <p:cNvSpPr/>
          <p:nvPr/>
        </p:nvSpPr>
        <p:spPr>
          <a:xfrm>
            <a:off x="6435347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S8500</a:t>
            </a:r>
          </a:p>
        </p:txBody>
      </p:sp>
      <p:sp>
        <p:nvSpPr>
          <p:cNvPr id="26" name="矩形 25"/>
          <p:cNvSpPr/>
          <p:nvPr/>
        </p:nvSpPr>
        <p:spPr>
          <a:xfrm>
            <a:off x="8507943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S2000</a:t>
            </a:r>
          </a:p>
        </p:txBody>
      </p:sp>
      <p:sp>
        <p:nvSpPr>
          <p:cNvPr id="27" name="矩形 26"/>
          <p:cNvSpPr/>
          <p:nvPr/>
        </p:nvSpPr>
        <p:spPr>
          <a:xfrm>
            <a:off x="10940311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S1000</a:t>
            </a:r>
          </a:p>
        </p:txBody>
      </p:sp>
      <p:sp>
        <p:nvSpPr>
          <p:cNvPr id="28" name="矩形 27"/>
          <p:cNvSpPr/>
          <p:nvPr/>
        </p:nvSpPr>
        <p:spPr>
          <a:xfrm>
            <a:off x="623414" y="33312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Baseline</a:t>
            </a:r>
          </a:p>
          <a:p>
            <a:r>
              <a:rPr lang="zh-CN" altLang="en-US" dirty="0"/>
              <a:t>集线器</a:t>
            </a:r>
          </a:p>
        </p:txBody>
      </p:sp>
      <p:sp>
        <p:nvSpPr>
          <p:cNvPr id="29" name="矩形 28"/>
          <p:cNvSpPr/>
          <p:nvPr/>
        </p:nvSpPr>
        <p:spPr>
          <a:xfrm>
            <a:off x="2619848" y="339578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OfficeConnect</a:t>
            </a:r>
          </a:p>
          <a:p>
            <a:r>
              <a:rPr lang="zh-CN" altLang="en-US" dirty="0"/>
              <a:t>集线器</a:t>
            </a:r>
          </a:p>
        </p:txBody>
      </p:sp>
      <p:sp>
        <p:nvSpPr>
          <p:cNvPr id="30" name="矩形 29"/>
          <p:cNvSpPr/>
          <p:nvPr/>
        </p:nvSpPr>
        <p:spPr>
          <a:xfrm>
            <a:off x="4636211" y="342751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Quidway</a:t>
            </a:r>
          </a:p>
          <a:p>
            <a:r>
              <a:rPr lang="zh-CN" altLang="en-US" dirty="0"/>
              <a:t>Eudemon系列</a:t>
            </a:r>
          </a:p>
        </p:txBody>
      </p:sp>
      <p:sp>
        <p:nvSpPr>
          <p:cNvPr id="31" name="矩形 30"/>
          <p:cNvSpPr/>
          <p:nvPr/>
        </p:nvSpPr>
        <p:spPr>
          <a:xfrm>
            <a:off x="6719883" y="34002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Quidway</a:t>
            </a:r>
          </a:p>
          <a:p>
            <a:r>
              <a:rPr lang="zh-CN" altLang="en-US" dirty="0"/>
              <a:t>WA1000系列</a:t>
            </a:r>
          </a:p>
        </p:txBody>
      </p:sp>
      <p:sp>
        <p:nvSpPr>
          <p:cNvPr id="32" name="矩形 31"/>
          <p:cNvSpPr/>
          <p:nvPr/>
        </p:nvSpPr>
        <p:spPr>
          <a:xfrm>
            <a:off x="8961657" y="3533467"/>
            <a:ext cx="60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MRS</a:t>
            </a:r>
          </a:p>
        </p:txBody>
      </p:sp>
      <p:sp>
        <p:nvSpPr>
          <p:cNvPr id="33" name="矩形 32"/>
          <p:cNvSpPr/>
          <p:nvPr/>
        </p:nvSpPr>
        <p:spPr>
          <a:xfrm>
            <a:off x="10531838" y="3620029"/>
            <a:ext cx="156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MA5200/BRAS</a:t>
            </a:r>
          </a:p>
        </p:txBody>
      </p:sp>
      <p:sp>
        <p:nvSpPr>
          <p:cNvPr id="34" name="矩形 33"/>
          <p:cNvSpPr/>
          <p:nvPr/>
        </p:nvSpPr>
        <p:spPr>
          <a:xfrm>
            <a:off x="28857" y="5671074"/>
            <a:ext cx="2609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ESR8825边缘业务路由器</a:t>
            </a:r>
          </a:p>
        </p:txBody>
      </p:sp>
      <p:sp>
        <p:nvSpPr>
          <p:cNvPr id="35" name="矩形 34"/>
          <p:cNvSpPr/>
          <p:nvPr/>
        </p:nvSpPr>
        <p:spPr>
          <a:xfrm>
            <a:off x="2722135" y="5671074"/>
            <a:ext cx="1402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Policy Server</a:t>
            </a:r>
          </a:p>
        </p:txBody>
      </p:sp>
      <p:sp>
        <p:nvSpPr>
          <p:cNvPr id="36" name="矩形 35"/>
          <p:cNvSpPr/>
          <p:nvPr/>
        </p:nvSpPr>
        <p:spPr>
          <a:xfrm>
            <a:off x="4775235" y="55733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RADIUS</a:t>
            </a:r>
          </a:p>
          <a:p>
            <a:r>
              <a:rPr lang="zh-CN" altLang="en-US" dirty="0"/>
              <a:t>Server</a:t>
            </a:r>
          </a:p>
        </p:txBody>
      </p:sp>
      <p:sp>
        <p:nvSpPr>
          <p:cNvPr id="37" name="矩形 36"/>
          <p:cNvSpPr/>
          <p:nvPr/>
        </p:nvSpPr>
        <p:spPr>
          <a:xfrm>
            <a:off x="6296860" y="5688978"/>
            <a:ext cx="1972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通用服务器Router</a:t>
            </a:r>
          </a:p>
        </p:txBody>
      </p:sp>
      <p:sp>
        <p:nvSpPr>
          <p:cNvPr id="38" name="矩形 37"/>
          <p:cNvSpPr/>
          <p:nvPr/>
        </p:nvSpPr>
        <p:spPr>
          <a:xfrm>
            <a:off x="8192753" y="5688978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4005堆叠交换机 </a:t>
            </a:r>
          </a:p>
        </p:txBody>
      </p:sp>
      <p:sp>
        <p:nvSpPr>
          <p:cNvPr id="39" name="矩形 38"/>
          <p:cNvSpPr/>
          <p:nvPr/>
        </p:nvSpPr>
        <p:spPr>
          <a:xfrm>
            <a:off x="10947416" y="5670353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S5000</a:t>
            </a:r>
          </a:p>
        </p:txBody>
      </p:sp>
    </p:spTree>
    <p:extLst>
      <p:ext uri="{BB962C8B-B14F-4D97-AF65-F5344CB8AC3E}">
        <p14:creationId xmlns:p14="http://schemas.microsoft.com/office/powerpoint/2010/main" val="19853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6" y="1232371"/>
            <a:ext cx="1117050" cy="444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07" y="1224333"/>
            <a:ext cx="1117050" cy="444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076" y="1232371"/>
            <a:ext cx="1117050" cy="444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142" y="1194301"/>
            <a:ext cx="1104356" cy="5202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3211" y="972226"/>
            <a:ext cx="647381" cy="9644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4900边缘交换机 </a:t>
            </a:r>
          </a:p>
        </p:txBody>
      </p:sp>
      <p:sp>
        <p:nvSpPr>
          <p:cNvPr id="10" name="矩形 9"/>
          <p:cNvSpPr/>
          <p:nvPr/>
        </p:nvSpPr>
        <p:spPr>
          <a:xfrm>
            <a:off x="2716372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4400堆叠交换机 </a:t>
            </a:r>
          </a:p>
        </p:txBody>
      </p:sp>
      <p:sp>
        <p:nvSpPr>
          <p:cNvPr id="11" name="矩形 10"/>
          <p:cNvSpPr/>
          <p:nvPr/>
        </p:nvSpPr>
        <p:spPr>
          <a:xfrm>
            <a:off x="5254440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4200堆叠交换机 </a:t>
            </a:r>
          </a:p>
        </p:txBody>
      </p:sp>
      <p:sp>
        <p:nvSpPr>
          <p:cNvPr id="12" name="矩形 11"/>
          <p:cNvSpPr/>
          <p:nvPr/>
        </p:nvSpPr>
        <p:spPr>
          <a:xfrm>
            <a:off x="7782761" y="1993873"/>
            <a:ext cx="251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40x0堆叠交换机 </a:t>
            </a:r>
          </a:p>
        </p:txBody>
      </p:sp>
      <p:sp>
        <p:nvSpPr>
          <p:cNvPr id="13" name="矩形 12"/>
          <p:cNvSpPr/>
          <p:nvPr/>
        </p:nvSpPr>
        <p:spPr>
          <a:xfrm>
            <a:off x="10227489" y="1993873"/>
            <a:ext cx="218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NE5000E核心路由器</a:t>
            </a:r>
          </a:p>
        </p:txBody>
      </p:sp>
    </p:spTree>
    <p:extLst>
      <p:ext uri="{BB962C8B-B14F-4D97-AF65-F5344CB8AC3E}">
        <p14:creationId xmlns:p14="http://schemas.microsoft.com/office/powerpoint/2010/main" val="192472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288655" y="1703935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IPv6路由器</a:t>
            </a:r>
          </a:p>
        </p:txBody>
      </p:sp>
      <p:sp>
        <p:nvSpPr>
          <p:cNvPr id="17" name="矩形 16"/>
          <p:cNvSpPr/>
          <p:nvPr/>
        </p:nvSpPr>
        <p:spPr>
          <a:xfrm>
            <a:off x="2233984" y="1703935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SOHO路由器</a:t>
            </a:r>
          </a:p>
        </p:txBody>
      </p:sp>
      <p:sp>
        <p:nvSpPr>
          <p:cNvPr id="19" name="矩形 18"/>
          <p:cNvSpPr/>
          <p:nvPr/>
        </p:nvSpPr>
        <p:spPr>
          <a:xfrm>
            <a:off x="4244092" y="1565436"/>
            <a:ext cx="1414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带语音模块</a:t>
            </a:r>
          </a:p>
          <a:p>
            <a:r>
              <a:rPr lang="zh-CN" altLang="en-US" dirty="0"/>
              <a:t>的路由器</a:t>
            </a:r>
          </a:p>
        </p:txBody>
      </p:sp>
      <p:sp>
        <p:nvSpPr>
          <p:cNvPr id="20" name="矩形 19"/>
          <p:cNvSpPr/>
          <p:nvPr/>
        </p:nvSpPr>
        <p:spPr>
          <a:xfrm>
            <a:off x="6101270" y="170393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中低端路由器</a:t>
            </a:r>
          </a:p>
        </p:txBody>
      </p:sp>
      <p:sp>
        <p:nvSpPr>
          <p:cNvPr id="21" name="矩形 20"/>
          <p:cNvSpPr/>
          <p:nvPr/>
        </p:nvSpPr>
        <p:spPr>
          <a:xfrm>
            <a:off x="8214957" y="170393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高端路由器</a:t>
            </a:r>
          </a:p>
        </p:txBody>
      </p:sp>
      <p:sp>
        <p:nvSpPr>
          <p:cNvPr id="22" name="矩形 21"/>
          <p:cNvSpPr/>
          <p:nvPr/>
        </p:nvSpPr>
        <p:spPr>
          <a:xfrm>
            <a:off x="10173839" y="170393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核心路由器</a:t>
            </a:r>
          </a:p>
        </p:txBody>
      </p:sp>
      <p:sp>
        <p:nvSpPr>
          <p:cNvPr id="48" name="矩形 47"/>
          <p:cNvSpPr/>
          <p:nvPr/>
        </p:nvSpPr>
        <p:spPr>
          <a:xfrm>
            <a:off x="93118" y="3643827"/>
            <a:ext cx="1986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集线器/HUB(抽象)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326958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汇聚交换机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281970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核心交换机</a:t>
            </a:r>
          </a:p>
        </p:txBody>
      </p:sp>
      <p:sp>
        <p:nvSpPr>
          <p:cNvPr id="52" name="矩形 51"/>
          <p:cNvSpPr/>
          <p:nvPr/>
        </p:nvSpPr>
        <p:spPr>
          <a:xfrm>
            <a:off x="6101270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接入交换机</a:t>
            </a:r>
          </a:p>
        </p:txBody>
      </p:sp>
      <p:sp>
        <p:nvSpPr>
          <p:cNvPr id="53" name="矩形 52"/>
          <p:cNvSpPr/>
          <p:nvPr/>
        </p:nvSpPr>
        <p:spPr>
          <a:xfrm>
            <a:off x="8214957" y="36438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堆叠交换机</a:t>
            </a:r>
          </a:p>
        </p:txBody>
      </p:sp>
      <p:sp>
        <p:nvSpPr>
          <p:cNvPr id="54" name="矩形 53"/>
          <p:cNvSpPr/>
          <p:nvPr/>
        </p:nvSpPr>
        <p:spPr>
          <a:xfrm>
            <a:off x="10692108" y="3643827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AP</a:t>
            </a:r>
          </a:p>
        </p:txBody>
      </p:sp>
      <p:sp>
        <p:nvSpPr>
          <p:cNvPr id="55" name="矩形 54"/>
          <p:cNvSpPr/>
          <p:nvPr/>
        </p:nvSpPr>
        <p:spPr>
          <a:xfrm>
            <a:off x="455367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无线网桥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2442374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无线网卡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4319849" y="558955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接入服务器</a:t>
            </a:r>
          </a:p>
        </p:txBody>
      </p:sp>
      <p:sp>
        <p:nvSpPr>
          <p:cNvPr id="58" name="矩形 57"/>
          <p:cNvSpPr/>
          <p:nvPr/>
        </p:nvSpPr>
        <p:spPr>
          <a:xfrm>
            <a:off x="6428156" y="55895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语音网关</a:t>
            </a:r>
          </a:p>
        </p:txBody>
      </p:sp>
      <p:sp>
        <p:nvSpPr>
          <p:cNvPr id="59" name="矩形 58"/>
          <p:cNvSpPr/>
          <p:nvPr/>
        </p:nvSpPr>
        <p:spPr>
          <a:xfrm>
            <a:off x="8155970" y="558955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网络电话系统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0105218" y="5589559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CX城域业务平台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1" y="714819"/>
            <a:ext cx="837788" cy="710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478" y="725530"/>
            <a:ext cx="837788" cy="7106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490" y="714819"/>
            <a:ext cx="837788" cy="697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790" y="714819"/>
            <a:ext cx="837788" cy="6471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477" y="560545"/>
            <a:ext cx="837788" cy="7994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359" y="352407"/>
            <a:ext cx="837788" cy="9390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11" y="2570904"/>
            <a:ext cx="825094" cy="8502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8970" y="2581615"/>
            <a:ext cx="825094" cy="8502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2490" y="2502682"/>
            <a:ext cx="825094" cy="85023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7227" y="2666447"/>
            <a:ext cx="825094" cy="8502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7396" y="2628377"/>
            <a:ext cx="875869" cy="8883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97730" y="2594799"/>
            <a:ext cx="825094" cy="85023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611" y="4487067"/>
            <a:ext cx="825094" cy="85023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7338" y="4487067"/>
            <a:ext cx="825094" cy="85023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1986" y="4581296"/>
            <a:ext cx="825094" cy="8502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8156" y="4453186"/>
            <a:ext cx="825094" cy="8502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8171" y="4376244"/>
            <a:ext cx="825094" cy="85023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5676" y="4510291"/>
            <a:ext cx="812400" cy="7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3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8797" y="1698473"/>
            <a:ext cx="17584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MSCG多业务</a:t>
            </a:r>
          </a:p>
          <a:p>
            <a:r>
              <a:rPr lang="zh-CN" altLang="en-US" dirty="0"/>
              <a:t>控制网关</a:t>
            </a:r>
          </a:p>
        </p:txBody>
      </p:sp>
      <p:sp>
        <p:nvSpPr>
          <p:cNvPr id="23" name="矩形 22"/>
          <p:cNvSpPr/>
          <p:nvPr/>
        </p:nvSpPr>
        <p:spPr>
          <a:xfrm>
            <a:off x="2006127" y="16848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NE20/20E系列</a:t>
            </a:r>
          </a:p>
          <a:p>
            <a:r>
              <a:rPr lang="zh-CN" altLang="en-US" dirty="0"/>
              <a:t>高端路由器</a:t>
            </a:r>
          </a:p>
        </p:txBody>
      </p:sp>
      <p:sp>
        <p:nvSpPr>
          <p:cNvPr id="24" name="矩形 23"/>
          <p:cNvSpPr/>
          <p:nvPr/>
        </p:nvSpPr>
        <p:spPr>
          <a:xfrm>
            <a:off x="3915181" y="16594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16E/08E/05系列</a:t>
            </a:r>
          </a:p>
          <a:p>
            <a:r>
              <a:rPr lang="zh-CN" altLang="en-US" dirty="0"/>
              <a:t>高端路由器</a:t>
            </a:r>
          </a:p>
        </p:txBody>
      </p:sp>
      <p:sp>
        <p:nvSpPr>
          <p:cNvPr id="25" name="矩形 24"/>
          <p:cNvSpPr/>
          <p:nvPr/>
        </p:nvSpPr>
        <p:spPr>
          <a:xfrm>
            <a:off x="6412495" y="1747620"/>
            <a:ext cx="67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NE40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8248887" y="1747620"/>
            <a:ext cx="67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NE80</a:t>
            </a:r>
          </a:p>
        </p:txBody>
      </p:sp>
      <p:sp>
        <p:nvSpPr>
          <p:cNvPr id="27" name="矩形 26"/>
          <p:cNvSpPr/>
          <p:nvPr/>
        </p:nvSpPr>
        <p:spPr>
          <a:xfrm>
            <a:off x="10389668" y="1823377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AR28</a:t>
            </a:r>
          </a:p>
        </p:txBody>
      </p:sp>
      <p:sp>
        <p:nvSpPr>
          <p:cNvPr id="28" name="矩形 27"/>
          <p:cNvSpPr/>
          <p:nvPr/>
        </p:nvSpPr>
        <p:spPr>
          <a:xfrm>
            <a:off x="674462" y="3677044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AR18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2162331" y="3677044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AR46</a:t>
            </a:r>
          </a:p>
        </p:txBody>
      </p:sp>
      <p:sp>
        <p:nvSpPr>
          <p:cNvPr id="30" name="矩形 29"/>
          <p:cNvSpPr/>
          <p:nvPr/>
        </p:nvSpPr>
        <p:spPr>
          <a:xfrm>
            <a:off x="3902730" y="35248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mtClean="0"/>
              <a:t>Eudemon 1000</a:t>
            </a:r>
          </a:p>
          <a:p>
            <a:r>
              <a:rPr lang="zh-CN" altLang="en-US" smtClean="0"/>
              <a:t>防火墙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080966" y="35113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Eudemon 200</a:t>
            </a:r>
          </a:p>
          <a:p>
            <a:r>
              <a:rPr lang="zh-CN" altLang="en-US" dirty="0"/>
              <a:t>防火墙</a:t>
            </a:r>
          </a:p>
        </p:txBody>
      </p:sp>
      <p:sp>
        <p:nvSpPr>
          <p:cNvPr id="32" name="矩形 31"/>
          <p:cNvSpPr/>
          <p:nvPr/>
        </p:nvSpPr>
        <p:spPr>
          <a:xfrm>
            <a:off x="8052189" y="3609963"/>
            <a:ext cx="1600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Eudemon 100E</a:t>
            </a:r>
          </a:p>
        </p:txBody>
      </p:sp>
      <p:sp>
        <p:nvSpPr>
          <p:cNvPr id="33" name="矩形 32"/>
          <p:cNvSpPr/>
          <p:nvPr/>
        </p:nvSpPr>
        <p:spPr>
          <a:xfrm>
            <a:off x="9866008" y="3575444"/>
            <a:ext cx="1382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VG语音网关</a:t>
            </a:r>
          </a:p>
        </p:txBody>
      </p:sp>
      <p:sp>
        <p:nvSpPr>
          <p:cNvPr id="34" name="矩形 33"/>
          <p:cNvSpPr/>
          <p:nvPr/>
        </p:nvSpPr>
        <p:spPr>
          <a:xfrm>
            <a:off x="228026" y="56050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嵌入式防火墙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894020" y="54532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VRP通用路由平台</a:t>
            </a:r>
          </a:p>
          <a:p>
            <a:r>
              <a:rPr lang="zh-CN" altLang="en-US" dirty="0"/>
              <a:t>(操作系统)</a:t>
            </a:r>
          </a:p>
        </p:txBody>
      </p:sp>
      <p:sp>
        <p:nvSpPr>
          <p:cNvPr id="36" name="矩形 35"/>
          <p:cNvSpPr/>
          <p:nvPr/>
        </p:nvSpPr>
        <p:spPr>
          <a:xfrm>
            <a:off x="4186840" y="5591704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VPN</a:t>
            </a:r>
          </a:p>
        </p:txBody>
      </p:sp>
      <p:sp>
        <p:nvSpPr>
          <p:cNvPr id="37" name="矩形 36"/>
          <p:cNvSpPr/>
          <p:nvPr/>
        </p:nvSpPr>
        <p:spPr>
          <a:xfrm>
            <a:off x="6020721" y="5484307"/>
            <a:ext cx="1463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QoS Manager</a:t>
            </a:r>
          </a:p>
        </p:txBody>
      </p:sp>
      <p:sp>
        <p:nvSpPr>
          <p:cNvPr id="38" name="矩形 37"/>
          <p:cNvSpPr/>
          <p:nvPr/>
        </p:nvSpPr>
        <p:spPr>
          <a:xfrm>
            <a:off x="7776308" y="53861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CAMS综合访问</a:t>
            </a:r>
          </a:p>
          <a:p>
            <a:r>
              <a:rPr lang="zh-CN" altLang="en-US" dirty="0"/>
              <a:t>管理服务器</a:t>
            </a:r>
          </a:p>
        </p:txBody>
      </p:sp>
      <p:sp>
        <p:nvSpPr>
          <p:cNvPr id="39" name="矩形 38"/>
          <p:cNvSpPr/>
          <p:nvPr/>
        </p:nvSpPr>
        <p:spPr>
          <a:xfrm>
            <a:off x="9748531" y="5453205"/>
            <a:ext cx="1959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NBX网络电话系统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50" y="551123"/>
            <a:ext cx="812400" cy="7360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31" y="657869"/>
            <a:ext cx="1104356" cy="64719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14" y="524015"/>
            <a:ext cx="787013" cy="96444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551" y="372506"/>
            <a:ext cx="799706" cy="116748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051" y="210197"/>
            <a:ext cx="672769" cy="144666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2164" y="1009674"/>
            <a:ext cx="1117050" cy="48222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31" y="2845823"/>
            <a:ext cx="1117050" cy="48222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259" y="2742539"/>
            <a:ext cx="1104356" cy="69795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9771" y="2770454"/>
            <a:ext cx="1104356" cy="57105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966" y="2563067"/>
            <a:ext cx="1104356" cy="57105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3653" y="2637869"/>
            <a:ext cx="1117050" cy="44415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8531" y="2695341"/>
            <a:ext cx="1117050" cy="44415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462" y="4438671"/>
            <a:ext cx="748931" cy="77409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78512" y="4697672"/>
            <a:ext cx="926644" cy="46953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6840" y="4526357"/>
            <a:ext cx="672769" cy="81216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644" y="4453329"/>
            <a:ext cx="660075" cy="81216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9634" y="4335761"/>
            <a:ext cx="672769" cy="81216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60464" y="4456507"/>
            <a:ext cx="1104356" cy="78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4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57981" y="1597802"/>
            <a:ext cx="875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S35000</a:t>
            </a:r>
          </a:p>
        </p:txBody>
      </p:sp>
      <p:sp>
        <p:nvSpPr>
          <p:cNvPr id="23" name="矩形 22"/>
          <p:cNvSpPr/>
          <p:nvPr/>
        </p:nvSpPr>
        <p:spPr>
          <a:xfrm>
            <a:off x="2637883" y="164903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S3000</a:t>
            </a:r>
          </a:p>
        </p:txBody>
      </p:sp>
      <p:sp>
        <p:nvSpPr>
          <p:cNvPr id="24" name="矩形 23"/>
          <p:cNvSpPr/>
          <p:nvPr/>
        </p:nvSpPr>
        <p:spPr>
          <a:xfrm>
            <a:off x="5005565" y="164903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S6500</a:t>
            </a:r>
          </a:p>
        </p:txBody>
      </p:sp>
      <p:sp>
        <p:nvSpPr>
          <p:cNvPr id="25" name="矩形 24"/>
          <p:cNvSpPr/>
          <p:nvPr/>
        </p:nvSpPr>
        <p:spPr>
          <a:xfrm>
            <a:off x="6692522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S8500</a:t>
            </a:r>
          </a:p>
        </p:txBody>
      </p:sp>
      <p:sp>
        <p:nvSpPr>
          <p:cNvPr id="26" name="矩形 25"/>
          <p:cNvSpPr/>
          <p:nvPr/>
        </p:nvSpPr>
        <p:spPr>
          <a:xfrm>
            <a:off x="8631768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S2000</a:t>
            </a:r>
          </a:p>
        </p:txBody>
      </p:sp>
      <p:sp>
        <p:nvSpPr>
          <p:cNvPr id="27" name="矩形 26"/>
          <p:cNvSpPr/>
          <p:nvPr/>
        </p:nvSpPr>
        <p:spPr>
          <a:xfrm>
            <a:off x="10940311" y="166423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S1000</a:t>
            </a:r>
          </a:p>
        </p:txBody>
      </p:sp>
      <p:sp>
        <p:nvSpPr>
          <p:cNvPr id="28" name="矩形 27"/>
          <p:cNvSpPr/>
          <p:nvPr/>
        </p:nvSpPr>
        <p:spPr>
          <a:xfrm>
            <a:off x="623414" y="33312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Baseline</a:t>
            </a:r>
          </a:p>
          <a:p>
            <a:r>
              <a:rPr lang="zh-CN" altLang="en-US" dirty="0"/>
              <a:t>集线器</a:t>
            </a:r>
          </a:p>
        </p:txBody>
      </p:sp>
      <p:sp>
        <p:nvSpPr>
          <p:cNvPr id="29" name="矩形 28"/>
          <p:cNvSpPr/>
          <p:nvPr/>
        </p:nvSpPr>
        <p:spPr>
          <a:xfrm>
            <a:off x="2619848" y="339578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OfficeConnect</a:t>
            </a:r>
          </a:p>
          <a:p>
            <a:r>
              <a:rPr lang="zh-CN" altLang="en-US" dirty="0"/>
              <a:t>集线器</a:t>
            </a:r>
          </a:p>
        </p:txBody>
      </p:sp>
      <p:sp>
        <p:nvSpPr>
          <p:cNvPr id="30" name="矩形 29"/>
          <p:cNvSpPr/>
          <p:nvPr/>
        </p:nvSpPr>
        <p:spPr>
          <a:xfrm>
            <a:off x="4683836" y="342751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Quidway</a:t>
            </a:r>
          </a:p>
          <a:p>
            <a:r>
              <a:rPr lang="zh-CN" altLang="en-US" dirty="0"/>
              <a:t>Eudemon系列</a:t>
            </a:r>
          </a:p>
        </p:txBody>
      </p:sp>
      <p:sp>
        <p:nvSpPr>
          <p:cNvPr id="31" name="矩形 30"/>
          <p:cNvSpPr/>
          <p:nvPr/>
        </p:nvSpPr>
        <p:spPr>
          <a:xfrm>
            <a:off x="6719883" y="34002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Quidway</a:t>
            </a:r>
          </a:p>
          <a:p>
            <a:r>
              <a:rPr lang="zh-CN" altLang="en-US" dirty="0"/>
              <a:t>WA1000系列</a:t>
            </a:r>
          </a:p>
        </p:txBody>
      </p:sp>
      <p:sp>
        <p:nvSpPr>
          <p:cNvPr id="32" name="矩形 31"/>
          <p:cNvSpPr/>
          <p:nvPr/>
        </p:nvSpPr>
        <p:spPr>
          <a:xfrm>
            <a:off x="8961657" y="3533467"/>
            <a:ext cx="60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MRS</a:t>
            </a:r>
          </a:p>
        </p:txBody>
      </p:sp>
      <p:sp>
        <p:nvSpPr>
          <p:cNvPr id="33" name="矩形 32"/>
          <p:cNvSpPr/>
          <p:nvPr/>
        </p:nvSpPr>
        <p:spPr>
          <a:xfrm>
            <a:off x="10531838" y="3620029"/>
            <a:ext cx="156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MA5200/BRAS</a:t>
            </a:r>
          </a:p>
        </p:txBody>
      </p:sp>
      <p:sp>
        <p:nvSpPr>
          <p:cNvPr id="34" name="矩形 33"/>
          <p:cNvSpPr/>
          <p:nvPr/>
        </p:nvSpPr>
        <p:spPr>
          <a:xfrm>
            <a:off x="28857" y="5671074"/>
            <a:ext cx="2609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ESR8825边缘业务路由器</a:t>
            </a:r>
          </a:p>
        </p:txBody>
      </p:sp>
      <p:sp>
        <p:nvSpPr>
          <p:cNvPr id="35" name="矩形 34"/>
          <p:cNvSpPr/>
          <p:nvPr/>
        </p:nvSpPr>
        <p:spPr>
          <a:xfrm>
            <a:off x="2722135" y="5671074"/>
            <a:ext cx="1402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Policy Server</a:t>
            </a:r>
          </a:p>
        </p:txBody>
      </p:sp>
      <p:sp>
        <p:nvSpPr>
          <p:cNvPr id="36" name="矩形 35"/>
          <p:cNvSpPr/>
          <p:nvPr/>
        </p:nvSpPr>
        <p:spPr>
          <a:xfrm>
            <a:off x="4775235" y="55733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RADIUS</a:t>
            </a:r>
          </a:p>
          <a:p>
            <a:r>
              <a:rPr lang="zh-CN" altLang="en-US" dirty="0"/>
              <a:t>Server</a:t>
            </a:r>
          </a:p>
        </p:txBody>
      </p:sp>
      <p:sp>
        <p:nvSpPr>
          <p:cNvPr id="37" name="矩形 36"/>
          <p:cNvSpPr/>
          <p:nvPr/>
        </p:nvSpPr>
        <p:spPr>
          <a:xfrm>
            <a:off x="6296860" y="5688978"/>
            <a:ext cx="1972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通用服务器Router</a:t>
            </a:r>
          </a:p>
        </p:txBody>
      </p:sp>
      <p:sp>
        <p:nvSpPr>
          <p:cNvPr id="38" name="矩形 37"/>
          <p:cNvSpPr/>
          <p:nvPr/>
        </p:nvSpPr>
        <p:spPr>
          <a:xfrm>
            <a:off x="8192753" y="5688978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4005堆叠交换机 </a:t>
            </a:r>
          </a:p>
        </p:txBody>
      </p:sp>
      <p:sp>
        <p:nvSpPr>
          <p:cNvPr id="39" name="矩形 38"/>
          <p:cNvSpPr/>
          <p:nvPr/>
        </p:nvSpPr>
        <p:spPr>
          <a:xfrm>
            <a:off x="10947416" y="5670353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S5000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70" y="730525"/>
            <a:ext cx="1104356" cy="5202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406" y="768595"/>
            <a:ext cx="1117050" cy="44415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236" y="584590"/>
            <a:ext cx="748931" cy="81216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947" y="502105"/>
            <a:ext cx="621994" cy="9771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721" y="768595"/>
            <a:ext cx="1117050" cy="44415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5550" y="768595"/>
            <a:ext cx="1117050" cy="44415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981" y="2585914"/>
            <a:ext cx="1104356" cy="53298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0595" y="2623984"/>
            <a:ext cx="1117050" cy="45684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5903" y="2459014"/>
            <a:ext cx="761625" cy="78678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5786" y="2459014"/>
            <a:ext cx="761625" cy="78678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5669" y="2459014"/>
            <a:ext cx="761625" cy="78678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040" y="4543866"/>
            <a:ext cx="736238" cy="82485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01671" y="4537521"/>
            <a:ext cx="672769" cy="83754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0683" y="4461381"/>
            <a:ext cx="660075" cy="98982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55550" y="2427289"/>
            <a:ext cx="761625" cy="85023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5101" y="4581936"/>
            <a:ext cx="825094" cy="74871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0688" y="4607316"/>
            <a:ext cx="1104356" cy="69795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52638" y="4696146"/>
            <a:ext cx="1104356" cy="5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1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4900边缘交换机 </a:t>
            </a:r>
          </a:p>
        </p:txBody>
      </p:sp>
      <p:sp>
        <p:nvSpPr>
          <p:cNvPr id="10" name="矩形 9"/>
          <p:cNvSpPr/>
          <p:nvPr/>
        </p:nvSpPr>
        <p:spPr>
          <a:xfrm>
            <a:off x="2716372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4400堆叠交换机 </a:t>
            </a:r>
          </a:p>
        </p:txBody>
      </p:sp>
      <p:sp>
        <p:nvSpPr>
          <p:cNvPr id="11" name="矩形 10"/>
          <p:cNvSpPr/>
          <p:nvPr/>
        </p:nvSpPr>
        <p:spPr>
          <a:xfrm>
            <a:off x="5254440" y="1993873"/>
            <a:ext cx="2528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4200堆叠交换机 </a:t>
            </a:r>
          </a:p>
        </p:txBody>
      </p:sp>
      <p:sp>
        <p:nvSpPr>
          <p:cNvPr id="12" name="矩形 11"/>
          <p:cNvSpPr/>
          <p:nvPr/>
        </p:nvSpPr>
        <p:spPr>
          <a:xfrm>
            <a:off x="7782761" y="1993873"/>
            <a:ext cx="251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Switch 40x0堆叠交换机 </a:t>
            </a:r>
          </a:p>
        </p:txBody>
      </p:sp>
      <p:sp>
        <p:nvSpPr>
          <p:cNvPr id="13" name="矩形 12"/>
          <p:cNvSpPr/>
          <p:nvPr/>
        </p:nvSpPr>
        <p:spPr>
          <a:xfrm>
            <a:off x="10227489" y="1993873"/>
            <a:ext cx="218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NE5000E核心路由器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24" y="1143588"/>
            <a:ext cx="1117050" cy="444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18" y="1219890"/>
            <a:ext cx="1117050" cy="4441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12" y="1219890"/>
            <a:ext cx="1117050" cy="4441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588" y="1181820"/>
            <a:ext cx="1104356" cy="5202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4000" y="883443"/>
            <a:ext cx="647381" cy="9644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69" y="3260250"/>
            <a:ext cx="647381" cy="10152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152" y="3183096"/>
            <a:ext cx="647381" cy="10152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46842" y="45755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Radium</a:t>
            </a:r>
          </a:p>
          <a:p>
            <a:r>
              <a:rPr lang="zh-CN" altLang="en-US" dirty="0"/>
              <a:t>8750</a:t>
            </a:r>
          </a:p>
        </p:txBody>
      </p:sp>
      <p:sp>
        <p:nvSpPr>
          <p:cNvPr id="20" name="矩形 19"/>
          <p:cNvSpPr/>
          <p:nvPr/>
        </p:nvSpPr>
        <p:spPr>
          <a:xfrm>
            <a:off x="3085318" y="4714034"/>
            <a:ext cx="1790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ISN8850Quidway</a:t>
            </a:r>
          </a:p>
        </p:txBody>
      </p:sp>
    </p:spTree>
    <p:extLst>
      <p:ext uri="{BB962C8B-B14F-4D97-AF65-F5344CB8AC3E}">
        <p14:creationId xmlns:p14="http://schemas.microsoft.com/office/powerpoint/2010/main" val="129784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363</Words>
  <Application>Microsoft Office PowerPoint</Application>
  <PresentationFormat>宽屏</PresentationFormat>
  <Paragraphs>147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(Q)</dc:creator>
  <cp:lastModifiedBy>lixin (Q)</cp:lastModifiedBy>
  <cp:revision>7</cp:revision>
  <dcterms:created xsi:type="dcterms:W3CDTF">2016-03-25T09:31:03Z</dcterms:created>
  <dcterms:modified xsi:type="dcterms:W3CDTF">2016-03-31T01:28:02Z</dcterms:modified>
</cp:coreProperties>
</file>